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666666"/>
                </a:solidFill>
                <a:latin typeface="맑은 고딕"/>
              </a:rPr>
              <a:t>제24회 한국로봇항공기경연대회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A1A1A"/>
                </a:solidFill>
                <a:latin typeface="맑은 고딕"/>
              </a:rPr>
              <a:t>2차 예선 기술개발보고서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정규부문   |   참가팀명 : 수리독수리 (연세대학교)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지도교수 : 유정훈 교수 (연세대학교 기계공학부)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발표자 : [빈칸]        2026. 07. 30.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78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1. 참가팀 현황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참가팀 구성 / 추진체계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2. 전체 시스템 개발 상황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전체 시스템 구성 / 설계 방법론 / 주익 최적해 / 안정성 설계 /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구조·진동 해석 / 제작·실물 검증 / 자체 제작 시험기체군 /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미완성 개발·시험 계획 / 안전장치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3. 자동비행 시스템 구현 상황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유도·제어·항법 아키텍처 / 경로생성 / 경로추종·상태머신 /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검증 체계 / 지상·비행 시험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4. 임무수행 구현기술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임무 시나리오 / 임무장치(아기수리) / 객체인식·정밀착륙 / 보완 계획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5. 기타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비행시험 데이터 &amp; 영상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1. 참가팀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참가팀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연세대학교 수리독수리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참가팀명(소속) : 수리독수리 (연세대학교)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지도교수 : 유정훈 교수 (연세대학교 기계공학부)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참가팀 구성 : 김승원 팀장 외 [빈칸]명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16352"/>
          <a:ext cx="1115567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978"/>
                <a:gridCol w="743711"/>
                <a:gridCol w="849956"/>
                <a:gridCol w="1487423"/>
                <a:gridCol w="531222"/>
                <a:gridCol w="849956"/>
                <a:gridCol w="1381179"/>
                <a:gridCol w="2337380"/>
                <a:gridCol w="254986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직위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성명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주민번호 앞7자리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학년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소속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학과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E-mail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</a:rPr>
                        <a:t>담당역할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팀장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김승원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050106-3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연세대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기계공학부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suridogsuri@gmail.com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기체설계(HW)·시스템통합(PM)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팀원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김태훈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031226-3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전남대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물리학과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potato0303kth@jnu.ac.kr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임무제어(SW)·지상통제(GCS)</a:t>
                      </a:r>
                    </a:p>
                  </a:txBody>
                  <a:tcPr marT="12700" marB="12700"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팀원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조종사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※ 팀원 변경은 2차 예선 제출자료 이후 불가 — 조종사 지정 여부를 제출 전 확정할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1. 참가팀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추진체계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2인 체제 · 전 영역 자체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외주 없음 — 기체 · 소프트웨어 · 시험장비까지 전부 자체 제작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2인 팀이므로 1인이 복수 기능을 겸한다 (아래 분장표)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505456"/>
          <a:ext cx="11155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담당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역할 및 담당업무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기체설계 (HW)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김승원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공력·구조·진동 해석, 형상 최적 설계, 기체 제작 및 정비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시스템통합 (PM)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김승원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대회 규정 분석, 개발 일정 관리, HW-SW 통합 조율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임무제어 (SW)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김태훈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자율비행 소프트웨어, 객체인식, FC 파라미터 튜닝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지상통제 (GCS)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김태훈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비행 경로 설정, 텔레메트리 모니터링, 비행 로그 분석</a:t>
                      </a:r>
                    </a:p>
                  </a:txBody>
                  <a:tcPr marT="12700" marB="12700"/>
                </a:tc>
              </a:tr>
              <a:tr h="2743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조종사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수동 이착륙, 비상 상황 시 수동 전환 및 안전 확보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전체 시스템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1차 계획서의 설계안 → 2차 시점의 구현체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시스템 블록도 : 기체(수리1호) - FC(Pixhawk 6C) - CC(RPi5) - 센서(카메라·라이다·Dual GPS) - 지상국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94560"/>
          <a:ext cx="11155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구성 요소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1차 예선 (계획)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2차 예선 (현재)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기체 수리1호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설계 완료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제작 완료 · 호버링 시험 완료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비행제어 소프트웨어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알고리즘 선정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실기체 배포 · 자율비행 실증 (59회분)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객체인식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알고리즘 설계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온보드 실동작 · 실기체 종단간 검증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정밀착륙 연동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개념 설계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인터페이스 실증 완료, 폐루프 연결 진행 중</a:t>
                      </a:r>
                    </a:p>
                  </a:txBody>
                  <a:tcPr marT="12700" marB="12700"/>
                </a:tc>
              </a:tr>
              <a:tr h="2743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구조장치 아기수리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설계 완료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[팀장 확인]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설계 방법론 : 해석 기반 최적해 탐색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감이 아니라 수치로 형상을 골랐다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자체 개발 스프레드시트 계산기 3종을 축으로 설계 전 과정을 정량화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[프로펠러] 유동속도에 따른 추력·효율 저하 정량화. Tarot 4114(320kv) / EM3115(900kv)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공식 데이터로 정지추력·파워계수 보정 + Apps Script 가변 RPM 자동 산출</a:t>
            </a:r>
          </a:p>
          <a:p>
            <a:pPr lvl="2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맑은 고딕"/>
              </a:rPr>
              <a:t>· → 실제 추력·소비전력을 10% 오차 내로 예측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[계산기] 주익 제원 입력 시 12개 레이놀즈 수 × 속도별 공력 자동 연산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공력 371 · 푸셔 성능 144 · 중량 60개 데이터를 유기적으로 종합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[에너지] 주익 크기 변화에 따른 중량 변동을 반영한 임무 소비 전력량 산출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외부 해석 도구 연동 : XFLR5 (공력, 정적·동적 안정성) + ANSYS (1-way FSI, fluent, modal, harmonic)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전체 해석 프로세스 다이어그램 (1차 보고서 3-1)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핵심 메시지 : 설계 → 해석 → 재설계를 사람 손이 아니라 자동화된 계산 파이프라인으로 반복했다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주익 · 에어포일 최적해 도출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60개 형상 조합 전수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Apps Script 자동화로 루트시위 6종 × 윙스팬 10종 = 60개 조합 공력 데이터 자동 연산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평가지표 : 최대 전비 순항속도 / 실속속도 / 임무별 소비 전력량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Min-Max 정규화 + 대회 배점표 가중치 합산 → 100점 만점 환산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제약조건을 명시적으로 부여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배터리 70% 방전한계(170Wh) 초과 형상 배제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가로세로비(AR) 10 이상은 '카본파이프 + ASA AERO' 플랫폼의 구조 강성 한계로 보류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에어포일 최종 순위 : NACA2412 &gt; SD7037 &gt; RG15 &gt; DAE12 &gt; MH32 &gt; NACA4412 &gt; SG6043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설계 실효성 보정 : 이론적 최대 양항비가 아니라, 푸셔 과부하·추진효율 저하를 반영한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'최대 전비 속도'(km/kWh)를 기준으로 삼아 실제 최대 항속거리를 보장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검증 결과 : 총 소비 전력량이 6S 10000mAh의 80% 가용량(192Wh)을 안정적으로 하회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조합별 점수표 / 에어포일 순위표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안정성 설계 : V-tail &amp; 스톨 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FC 제어에 기대지 않는 기체 고유 안정성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551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V-tail 형상 선정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웨이포인트 통과오차 최소화를 위해, FC 제어가 있음에도 동적 안정성이 보장되는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최소 크기와 CG 모멘트암을 6개 후보군 중에서 정량 선정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에일러론 스톨 방지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elliptical 날개 + 팁에 음(-)의 incidence angle 부여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검증 (20 m/s, AOA 10°) : 루트 부근은 뒷전 박리가 시작되지만,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팁 부근은 유효 받음각 감소 → 국부 양력계수 감소 → 박리 지연 → 층류 유지</a:t>
            </a:r>
          </a:p>
          <a:p>
            <a:pPr lvl="2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맑은 고딕"/>
              </a:rPr>
              <a:t>· → 스톨 진입 시에도 에일러론이 살아 있어 롤 제어권을 잃지 않는다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스팬 위치별 국부 양력계수 / 주익 압력분포 / speed contour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메시지 : '제어가 잡아주니까'가 아니라, 기체 자체가 안 넘어가도록 설계했다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구조 · 진동 해석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최악 하중 조건에서의 안전계수 · 공진 회피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해석 조건 = 기체가 마주할 수 있는 가장 가혹한 환경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최고속도 80 km/h · 최대받음각 15° · 최대추력 (쿼드 12 kgf, 푸셔 4 kgf)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재료 모델링 : 카본파이프 → CFRP / ASA AERO → 발포·저 infill 반영해 영률·포아송비 조정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구조해석 : fluent 공력하중 + 모터 추력 → static structural</a:t>
            </a:r>
          </a:p>
          <a:p>
            <a:pPr lvl="1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맑은 고딕"/>
              </a:rPr>
              <a:t>– → 두 재질 모두 가혹 조건에서 충분한 안전계수 확보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진동해석 : 모드 20개, 블레이드 통과 주파수(BPF)로 회피 주파수 대역 산정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유효질량비 5% 초과 &amp; 회피대역 내 위험모드 4·5번 식별, harmonic response로 재확인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한계도 그대로 보고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ANSYS student 메시 제한으로 2-way FSI 대신 1-way FSI 수행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위험모드 원인은 팁 카본파이프 지오메트리의 메싱 에러 누락 → ASA AERO가 하중 전담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설계대로 재해석 시 공진 주파수 상승으로 회피대역 이탈 예상 (재해석 예정)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하중에 의한 변형 / 모터별 회피 주파수 / 위험 모드 형상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제작 및 실물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설계안이 아니라 실제로 나는 기체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수리1호 제작 완료 — 3D 프린팅 기반 자체 제작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재료 선정 : PLA / LW-PLA / PETG / ASA / ASA-CF / ASA AERO 후보 중 ASA AERO 채택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유리전이 95°C (LW-PLA 55°C), UV 저항·인성 우수, PLA 밀도의 절반 수준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역할 분담 : 카본파이프 + 일반 ASA = 구조 하중 / ASA AERO = 비구조부 경량화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25% 정렬 elliptical wing의 복잡 형상 구현에 3D 프린팅이 최적이라 판단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완료된 실물 검증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Dual Holybro M10 GPS 기반 호버링 시험 완료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랜딩기어 retraction 동작 확인 / V-tail 조립 완료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[사진] 호버링 / 기체 조립 / 랜딩기어 retraction / V-tail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[빈칸] 실측 제원표 — MTOW, 익폭, 전장, 공허중량, 배터리 사양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자체 제작 시험 기체군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본기 위험을 줄이기 위해 시험기까지 직접 만들었다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117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본기(수리1호)에 곧바로 위험한 시험을 하지 않기 위해 별도 시험 기체를 자체 제작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MC 테스트기체의 의미 : 최종기체와 동일한 위치 기반 제어 신호 체계를 쓰도록 제작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여기서 검증한 비행 로직이 코드 변경 없이 그대로 VTOL 본기로 올라간다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소프트웨어 검증 사이클을 본기 손상 위험 없이 반복 가능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063239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시험 기체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현황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작은 수리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수리1호 축소형 — 형상·천이 거동 저비용 검증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[팀장 확인]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MC 테스트기체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자율비행 SW 검증 전용 (Pixhawk 6C + RPi5 동일 구성)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실비행 59회분 누적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아기수리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조난자 구조 장치 (4장에서 상술)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[팀장 확인]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[빈칸] 작은 수리 제원 · 사진 · 시험 내역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미완성 부분 개발 / 시험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남은 것과 그 일정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55648"/>
          <a:ext cx="11155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현재 상태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개발 / 시험 계획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VTOL 천이–역천이 실비행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SITL 전 구간 검증 완료, 실기체 미실시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 월 [빈칸] 주 실시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정밀착륙 폐루프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객체인식 측 완료, 비행제어 소비부 연결 중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연결 후 SITL → 실비행 검증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구조장치 통합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[팀장 확인]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[팀장 확인]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카메라 정밀 캘리브레이션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근사 파라미터로 운용 중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예선 후 실측 캘리브레이션 수행</a:t>
                      </a:r>
                    </a:p>
                  </a:txBody>
                  <a:tcPr marT="12700" marB="12700"/>
                </a:tc>
              </a:tr>
              <a:tr h="2743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구조 재해석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메싱 에러 구간 존재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재해석 후 공진 회피 재확인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※ 계획 열의 날짜를 반드시 채울 것 — 날짜 없는 계획은 계획으로 읽히지 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2. 전체 시스템 개발 상황 &gt; 2-3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안전장치 구현 상황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물리 · 비행제어 · 소프트웨어 3중 안전망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① 물리 안전장치 — CO2 카트리지 격발 낙하산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화약식 대비 즉각적인 기계적 사출로 전개 시점을 극적으로 앞당김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저고도 자유낙하에서도 신속히 유효 항력 형성 → 충격 에너지 격감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② 비행제어 안전 알고리즘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복귀 가능 에너지 동적 산출 : 단순 잔량(%) 페일세이프에서 탈피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MC 기동전력 1000W + FW 순항(70km/h, 전비 400m/Wh) 기반 실시간 귀환 요구 에너지 연산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6S 10000mAh의 20% 안전마진 도달 즉시 자율 귀환(RTL)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비상 활공 천이 : MC 구동계 고장으로 자세제어 불가 시, 자세를 억지로 잡는 대신</a:t>
            </a:r>
          </a:p>
          <a:p>
            <a:pPr lvl="2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맑은 고딕"/>
              </a:rPr>
              <a:t>· 의도적 급강하로 위치E→운동E 전환 → 실속속도 확보 → FW 천이 → 푸셔 최대추력 → 귀환·활공착륙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③ 소프트웨어 안전망 (실비행에서 실제 발동한 것들)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RC 모드스위치 + ROS 토픽 이중 오버라이드 → 실패 시 AUTO.LOITER 폴백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조종사 인계 감지 시 자율노드 자동 정지 (실비행 사고 대응으로 신설)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상태별 탈출 타임아웃 4종 + 이륙지점 기준 거리상한 300m (마지막 기하학적 제동장치)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페일세이프 다이어그램 / 글라이딩 시뮬레이션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3. 자동비행 시스템 구현 상황 &gt; 3-1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유도 · 제어 · 항법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3계층 분리 · 알고리즘 교체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계층 구조 : 경로생성(Path Planner) → 경로추종(Path Controller) → 자세제어(Inner Loop, FC)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1차의 '완전한 모듈화 · 자율적 알고리즘 대체' 설계가 실제 코드 구조로 실현됨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ROS2 노드 3종 (Telemetry / Offboard / Mission) + ROS 비의존 순수 라이브러리로 분리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계층마다 구현체를 교체해도 나머지 계층이 바뀌지 않는다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소프트웨어 규모 : 3개 도메인 약 51,400줄 / 205개 파일 (비행제어 · 객체인식 · 시뮬레이터)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block diagram of navigation process (1차 fig.2.1.1 — 캡션을 '구현 결과'로 수정)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3. 자동비행 시스템 구현 상황 &gt; 3-1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경로생성 : eta³ Clothoid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11종을 직접 만들어 비교하고 골랐다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670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곡률 연속(G2) 경로 — clothoid는 곡률이 호길이에 선형 증가하여 조종면 급변이 없다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자체 최적화 방법론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양단 G2 보간을 따로 하지 않고 NR 잔차와 동시 계산 → 위치 잔차와 매개변수를 종속화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위치·헤딩 잔차에 가중치를 부여해 전 구간에 분산 → 종단 WP 이탈 문제 해결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곡률제한 실효성이 없는 구간에는 가상 WP를 삽입해 제한 문제 자체를 회피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BasePlanner 구현체 11종(clothoid, D-iterpin 등)을 제작·시각화 비교하여 최우수안 선정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파라미터도 실측으로 확정 : v_cruise 18.0 = 실측 FW_AIRSPD_TRIM 15 + 배풍 마진 3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경로 생성 비용·품질이 특정 구간에서 계단형으로 갈린다는 것을 실측으로 확인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경로 생성 6패널 플롯 / planner 11종 비교 시각화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3. 자동비행 시스템 구현 상황 &gt; 3-1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경로추종 및 비행 상태머신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이륙부터 착륙까지 12상태 자동 전이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L1 유도 기반 경로추종 + 위치 setpoint 채널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고정익 오프보드는 속도 setpoint를 무시한다는 사실을 SITL 실측으로 확정한 결과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상태 전이 : ARM_TAKEOFF → CLIMBING → TRANSITION_FW → STREAMING → FOLLOWING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TRANSITION_MC → HOLD → LANDING → DONE  (+ OVERRIDE / PILOT_TAKEOVER)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vehicle_type 파라미터 하나로 MC 테스트기체와 VTOL 본기가 동일 코드를 사용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2장의 시험기체 전략이 코드 수준에서 실제로 성립하는 근거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상태 전이도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3. 자동비행 시스템 구현 상황 &gt; 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검증 체계 : 3단 검증 피라미드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검증을 통과하지 못한 코드는 기체에 올라가지 않는다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45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[3층] 실기체 비행 — 59회분 비행 로그 · ulog 79건 전량 자동 분석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[2층] SITL 회귀 — 시나리오 24런 자동 실행 · 자동 판정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[1층] 단위 테스트 — 1,811건 (비행제어 783 + 객체인식 1,028), ROS 없이 실행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구조가 검증을 가능하게 했다 — 비행 로직을 ROS 비의존 순수함수로 분리했기에 1층이 성립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SITL 성과 사례 : PX4 상류 회귀 버그를 소스 계보까지 추적해 2줄 패치로 해소</a:t>
            </a:r>
          </a:p>
          <a:p>
            <a:pPr lvl="1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맑은 고딕"/>
              </a:rPr>
              <a:t>– 북향 이탈 21.78 m → 0.38 m / 고도편차 판정 FAIL → PASS / 회귀 0건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비행 로그는 매 비행 전량 회수 → 자동 진단서 생성 → 결함 규명 → 수정 → 재배포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3단 피라미드 도식 / SITL 자동 판정서 캡처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발표 시간 배분을 가장 크게 줄 슬라이드 — 질의응답 방어력이 여기서 나온다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3. 자동비행 시스템 구현 상황 &gt; 3-2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지상 및 비행 시험 현황 /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누적 59회분 + 남은 시험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1833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완료 : 호버링 시험(Dual M10 GPS) / MC 자율비행 59회분 / SITL 전 사이클 PASS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대표 결과 : 조종사 개입 0으로 완주 — 경로이탈 최대 0.94 m, WP 최근접 0.10~0.64 m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개발 사이클 : 비행 → 로그 전량 회수 → 자동 분석 → 결함 규명 → 수정 → 재배포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남은 시험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VTOL 천이–역천이 실비행 / 정밀착륙 통합 / 구조장치 연동 / 통합 리허설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비행 궤적 플롯 / 자동 생성 분석서 캡처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4. 임무수행 구현기술 &gt; 4-1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임무수행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이륙에서 구조 · 복귀까지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이륙 → MC→FW 천이 → 경로비행 → 목표구역 도착 → FW→MC 역천이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→ 구역 스캔 → 타겟 포착·확인 → 정중앙 상공 정렬 → 정밀착륙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→ 아기수리 전개 → 조난자 인양 → 모선 복귀 → 이륙 → 복귀·착륙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16352"/>
          <a:ext cx="11155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임무 타겟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규격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착륙 지점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버티포트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흰 필드 Ø3 m + 빨간 원 Ø2 m + 중앙 ArUco 50 cm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정중앙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조난자 구역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초록 매트 3.0 × 3.0 × 0.105 m + 중앙 흰 박스 20 cm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박스 옆 빈 초록면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하기구역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빨간 십자 (대회측 규격 비공개)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중앙</a:t>
                      </a:r>
                    </a:p>
                  </a:txBody>
                  <a:tcPr marT="12700" marB="12700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단순 착륙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피듀셜 없음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GPS + 라이다 하강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4. 임무수행 구현기술 &gt; 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임무 장치 : 아기수리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모선과 분리된 전용 구조선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설계 사상 : 모선이 직접 인양하는 방식은 정확도·신뢰도가 떨어진다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구조 전용 기체를 별도로 설계·제작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동작 순서 : 수리1호가 조난자 근처 착륙 → 아기수리 전개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지면 주행 (서보모터 4개 조향) → 트레이 인양 (양측 그리퍼) → 모선 복귀 (상단 그리퍼)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[팀장 담당 · 전면 빈칸]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C0392B"/>
                </a:solidFill>
                <a:latin typeface="맑은 고딕"/>
              </a:rPr>
              <a:t>– 제작 현황 사진 / 구동 시험 결과 / 1차 설계 대비 변경점 / 모선 탑재·분리 메커니즘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아기수리 구조 과정 다이어그램(1차) + 실물 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4. 임무수행 구현기술 &gt; 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객체인식 및 정밀착륙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결정론적 고전 CV + 상대 pose 폐루프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702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고전 CV(OpenCV) 채택 근거 : 결정론 = 신뢰도 / RPi5 경량 / 학습 데이터셋 부담 0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대회 당일 '오작동·오인식 절대 불가' 요구에 정면 대응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coarse → fine 2단 검출 : 고고도에서 소형 피처는 원리적으로 디코드 불가 (GSD 분석)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→ fine 피처 락·검증 전에는 최종 착륙을 커밋하지 않는다 (코드 구조로 강제)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30 cm 정밀도는 폐루프로만 달성 — GPS 절대좌표는 1~2 m가 하한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카메라가 제어오차를 직접 측정하는 비주얼 서보잉 방식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실측 성능 : 프레임당 처리 18 ms, solvePnP 거리오차 0.25~0.58 %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착륙점은 기체 최외곽 반경 기반 안전창에서 산출 (물리 치수 반영, 매트 이탈 차단)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C0392B"/>
                </a:solidFill>
                <a:latin typeface="맑은 고딕"/>
              </a:rPr>
              <a:t>■ [그림] 검출 오버레이 / 고도별 GSD 표 / 데이터 흐름도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4. 임무수행 구현기술 &gt; 4-3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보완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본선까지의 마일스톤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임무 수행 측 보완 항목 (시스템·기체 측은 2-2 참조)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94560"/>
          <a:ext cx="11155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</a:rPr>
                        <a:t>목표 시기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구조장치 통합 시험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아기수리 탑재·전개·인양 통합 검증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정밀착륙 폐루프 실비행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비행제어 소비부 연결 후 실기체 검증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검출기 실촬영 재튜닝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실제 자갈·조명 조건 데이터로 검출 임계 재조정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구조 재해석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메싱 에러 해소 후 공진 회피 재확인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</a:tr>
              <a:tr h="27432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통합 리허설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</a:rPr>
                        <a:t>임무 전 구간 연속 수행</a:t>
                      </a:r>
                    </a:p>
                  </a:txBody>
                  <a:tcPr marT="12700" marB="12700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C0392B"/>
                          </a:solidFill>
                          <a:latin typeface="맑은 고딕"/>
                        </a:rPr>
                        <a:t>[빈칸]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맑은 고딕"/>
              </a:rPr>
              <a:t>※ 목표 시기를 반드시 채울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  <a:latin typeface="맑은 고딕"/>
              </a:rPr>
              <a:t>5. 기타 &gt; 5-1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맑은 고딕"/>
              </a:rPr>
              <a:t>비행시험 데이터 &amp; 영상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55680" cy="1143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6666"/>
                </a:solidFill>
                <a:latin typeface="맑은 고딕"/>
              </a:rPr>
              <a:t>제출 자료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155680" cy="2638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제출 비행데이터 — 각 데이터가 무엇을 보여주는지 1줄씩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C0392B"/>
                </a:solidFill>
                <a:latin typeface="맑은 고딕"/>
              </a:rPr>
              <a:t>– [빈칸] 제출 대상 로그 선정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■ 제출 영상 — 전체시스템 / 구성별 / 안전장치 / 지상국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C0392B"/>
                </a:solidFill>
                <a:latin typeface="맑은 고딕"/>
              </a:rPr>
              <a:t>– [빈칸] 촬영 및 편집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/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맑은 고딕"/>
              </a:rPr>
              <a:t>■ 맺음말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1. 기체 · 소프트웨어 · 시험장비까지 전부 자체 제작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2. 해석으로 설계하고, 3단 검증 체계로 신뢰성을 확보</a:t>
            </a:r>
          </a:p>
          <a:p>
            <a:pPr lvl="1"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  <a:latin typeface="맑은 고딕"/>
              </a:rPr>
              <a:t>– 3. 모든 구성요소가 교체 가능한 구조 — 본선까지 계속 개선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38251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